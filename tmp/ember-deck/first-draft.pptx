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087910126944c4" /><Relationship Type="http://schemas.openxmlformats.org/officeDocument/2006/relationships/extended-properties" Target="/docProps/app.xml" Id="R0619a1de98304920" /><Relationship Type="http://schemas.openxmlformats.org/officeDocument/2006/relationships/officeDocument" Target="/ppt/presentation.xml" Id="Rfabccefdfe934e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bc871002ce4f51"/>
  </p:sldMasterIdLst>
  <p:notesMasterIdLst>
    <p:notesMasterId xmlns:r="http://schemas.openxmlformats.org/officeDocument/2006/relationships" r:id="R20ba1362dece4ed0"/>
  </p:notesMasterIdLst>
  <p:sldIdLst>
    <p:sldId xmlns:r="http://schemas.openxmlformats.org/officeDocument/2006/relationships" id="256" r:id="R6dc5e7ad56974b16"/>
    <p:sldId xmlns:r="http://schemas.openxmlformats.org/officeDocument/2006/relationships" id="257" r:id="R797c072e9b1649d1"/>
    <p:sldId xmlns:r="http://schemas.openxmlformats.org/officeDocument/2006/relationships" id="258" r:id="Re07e5199bcb742d7"/>
    <p:sldId xmlns:r="http://schemas.openxmlformats.org/officeDocument/2006/relationships" id="259" r:id="R46ea0c8c2ad44f1c"/>
    <p:sldId xmlns:r="http://schemas.openxmlformats.org/officeDocument/2006/relationships" id="260" r:id="R301b9b579c314c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af3f310a4441c8" /><Relationship Type="http://schemas.openxmlformats.org/officeDocument/2006/relationships/slideMaster" Target="/ppt/slideMasters/slideMaster1.xml" Id="R30bc871002ce4f51" /><Relationship Type="http://schemas.openxmlformats.org/officeDocument/2006/relationships/notesMaster" Target="/ppt/notesMasters/notesMaster1.xml" Id="R20ba1362dece4ed0" /><Relationship Type="http://schemas.openxmlformats.org/officeDocument/2006/relationships/presProps" Target="/ppt/presProps.xml" Id="R5b1f7a8aa4df4f2b" /><Relationship Type="http://schemas.openxmlformats.org/officeDocument/2006/relationships/tableStyles" Target="/ppt/tableStyles.xml" Id="Rc153bc7334964247" /><Relationship Type="http://schemas.openxmlformats.org/officeDocument/2006/relationships/slide" Target="/ppt/slides/slide1.xml" Id="R6dc5e7ad56974b16" /><Relationship Type="http://schemas.openxmlformats.org/officeDocument/2006/relationships/slide" Target="/ppt/slides/slide2.xml" Id="R797c072e9b1649d1" /><Relationship Type="http://schemas.openxmlformats.org/officeDocument/2006/relationships/slide" Target="/ppt/slides/slide3.xml" Id="Re07e5199bcb742d7" /><Relationship Type="http://schemas.openxmlformats.org/officeDocument/2006/relationships/slide" Target="/ppt/slides/slide4.xml" Id="R46ea0c8c2ad44f1c" /><Relationship Type="http://schemas.openxmlformats.org/officeDocument/2006/relationships/slide" Target="/ppt/slides/slide5.xml" Id="R301b9b579c314c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80f494a9d142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9dc39670d640c8" /><Relationship Type="http://schemas.openxmlformats.org/officeDocument/2006/relationships/notesMaster" Target="/ppt/notesMasters/notesMaster1.xml" Id="R1c0e19a0772140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baf3eecbbb4dbf" /><Relationship Type="http://schemas.openxmlformats.org/officeDocument/2006/relationships/notesMaster" Target="/ppt/notesMasters/notesMaster1.xml" Id="Raecd1151eea849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9168a474634489" /><Relationship Type="http://schemas.openxmlformats.org/officeDocument/2006/relationships/notesMaster" Target="/ppt/notesMasters/notesMaster1.xml" Id="R232b0d71c4cb46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d36ca743304f50" /><Relationship Type="http://schemas.openxmlformats.org/officeDocument/2006/relationships/notesMaster" Target="/ppt/notesMasters/notesMaster1.xml" Id="R117806dc3bfd44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29a455970f434c" /><Relationship Type="http://schemas.openxmlformats.org/officeDocument/2006/relationships/notesMaster" Target="/ppt/notesMasters/notesMaster1.xml" Id="R1ca97ab4dd164c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Good morning. Here is a quick update on our overnight progress with EMBER. We worked on three areas: adding real terrain and wind data, improving GPU execution efficiency, and developing the fire spread model. I’ll briefly explain where each area stands.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team progress reported by the presenter on 29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0:20–1:25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My contribution was improving the real data inputs for our Collserola case. We now include elevation and a wind snapshot from ERA5 reanalysis, alongside the existing fuel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elevation data is aligned with the simulation grid, so differences in height can influence the slope between neighbouring cells. The wind input gives us a direction and speed for a selected date and hour, instead of relying only on manually chosen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now, that wind is constant across the area and throughout the run. This workflow runs on the scalar CPU version; it is not yet integrated with the GPU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main advance is richer, reproducible environmental inputs. These inputs make our test cases more realistic, but they do not yet make the simulation a calibrated wildfire forecast.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docs/real-environment.md and docs/real-terrain.md in the EMBER repository; presenter’s contribution report. Elevation: Copernicus DEM GLO-30. Weather: ERA5 reanalysis delivered through Open-Meteo. No claim of GPU parity or physical calibration.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1:25–2:30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Julián continued working on the efficiency of the GPU simulation. These screenshots show execution profiles in NVIDIA Nsight Systems for four MPI processes, labelled zero to three.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Each row shows a sequence of scenarios assigned to one process. The repeated blocks let us inspect how the work is organised, including scenario execution and CUDA synchronisation calls.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value of these profiles is that they make the execution pattern visible. They help guide optimisation and show where we should measure overhead more carefully.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do not have a matched before and after benchmark in these screenshots, so I am not claiming a specific speedup. The next measurement should compare the same workload and configuration, checking both execution time and correctness. That will let us quantify the benefit of the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four original WhatsApp screenshots supplied by the presenter, 29 September 2026, 08:24:07, 08:24:22, 08:24:37 and 08:25:05. Cropped to the scenario and CUDA API timeline rows. Screenshots show ranks 0–3; they are not a before/after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2:30–3:25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Jesús focused on the fire model. He investigated the two approaches described in issue number four and created two branches from dev: rothermel-fire-model and normalized-fuel-model.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Rothermel model is already implemented in the first branch. However, it still needs to be compiled and tested, so we should describe it as implementation progress, not as a validated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second branch provides a separate place to explore the normalised fuel approach. We are not claiming that this alternative has already been implemented.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gives us a clear starting point for the next stage: check that the Rothermel implementation builds, test its behaviour, and then assess how it can fit with the rest of EMBER.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Jesús’s direct report supplied by the presenter: investigated both approaches in issue #4; created rothermel-fire-model and normalized-fuel-model from dev; implemented Rothermel in the first branch, pending compilation and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3:25–4:00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Our proposed next steps are to compile and test the Rothermel model, measure the GPU changes with comparable benchmarks, and move towards integrating the environmental inputs with the other developments.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three workstreams are progressing, but they are not yet one fully integrated, validated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That is our overnight update: richer real data inputs, continued GPU optimisation, and an implemented Rothermel model awaiting validation. Thank you.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Proposed next steps based on the reported status; not claims of completed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800d782b042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0f43e5be11491c" /><Relationship Type="http://schemas.openxmlformats.org/officeDocument/2006/relationships/slideLayout" Target="/ppt/slideLayouts/slideLayout1.xml" Id="R1975be61b78044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75be61b78044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5682b8fc44d13" /><Relationship Type="http://schemas.openxmlformats.org/officeDocument/2006/relationships/notesSlide" Target="/ppt/notesSlides/notesSlide1.xml" Id="Rb57fe9ed316844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c270d08c04476" /><Relationship Type="http://schemas.openxmlformats.org/officeDocument/2006/relationships/notesSlide" Target="/ppt/notesSlides/notesSlide2.xml" Id="R072597960bba42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149b0d9174e04" /><Relationship Type="http://schemas.openxmlformats.org/officeDocument/2006/relationships/image" Target="/ppt/media/image.jpeg" Id="R52ccd74b21b84e17" /><Relationship Type="http://schemas.openxmlformats.org/officeDocument/2006/relationships/image" Target="/ppt/media/image2.jpeg" Id="Rdb594122ab204183" /><Relationship Type="http://schemas.openxmlformats.org/officeDocument/2006/relationships/image" Target="/ppt/media/image3.jpeg" Id="R2e45592abc9049ee" /><Relationship Type="http://schemas.openxmlformats.org/officeDocument/2006/relationships/image" Target="/ppt/media/image4.jpeg" Id="R409ccdaac3ed4b55" /><Relationship Type="http://schemas.openxmlformats.org/officeDocument/2006/relationships/notesSlide" Target="/ppt/notesSlides/notesSlide3.xml" Id="R6cd0332522d242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3c3fc993742a3" /><Relationship Type="http://schemas.openxmlformats.org/officeDocument/2006/relationships/notesSlide" Target="/ppt/notesSlides/notesSlide4.xml" Id="Rf323efc5ec1746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994a3869c4e80" /><Relationship Type="http://schemas.openxmlformats.org/officeDocument/2006/relationships/notesSlide" Target="/ppt/notesSlides/notesSlide5.xml" Id="R05aa829ea1f144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559D5-9F93-48B0-8478-F2C71F5B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D"/>
                </a:solidFill>
                <a:latin typeface="Arial"/>
                <a:ea typeface="Arial"/>
                <a:cs typeface="Arial"/>
              </a:rPr>
              <a:t>Overnight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3E2F1-8DFF-4C22-A3EF-BBD3D68A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EMBER  /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95071-1E02-4A71-807E-36CA25A1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763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EMBER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98FBF-4D1F-4554-9F4B-AB0B1B79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5F2ED"/>
                </a:solidFill>
                <a:latin typeface="Arial"/>
                <a:ea typeface="Arial"/>
                <a:cs typeface="Arial"/>
              </a:rPr>
              <a:t>Real inputs. GPU execution. Fire modelling.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9FD40-3C4B-438C-A3CD-CFF4B86E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Team progress update  ·  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7640107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1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DB122-EC14-4D14-BA4D-323C17D2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D"/>
                </a:solidFill>
                <a:latin typeface="Arial"/>
                <a:ea typeface="Arial"/>
                <a:cs typeface="Arial"/>
              </a:rPr>
              <a:t>Real terrain and wind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AC458-4377-4280-B7FE-1F14936D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EMBER  /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F97AA-5424-4E93-9DFB-7819C65B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Elevation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EE269-117C-4E5C-8340-ABFE7BF8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095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2ED"/>
                </a:solidFill>
                <a:latin typeface="Arial"/>
                <a:ea typeface="Arial"/>
                <a:cs typeface="Arial"/>
              </a:rPr>
              <a:t>Real heights aligned with</a:t>
            </a:r>
          </a:p>
          <a:p xmlns:a="http://schemas.openxmlformats.org/drawingml/2006/main">
            <a:pPr>
              <a:defRPr sz="2250" b="0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2ED"/>
                </a:solidFill>
                <a:latin typeface="Arial"/>
                <a:ea typeface="Arial"/>
                <a:cs typeface="Arial"/>
              </a:rPr>
              <a:t>the Collserola simulation grid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E4AF5-9B37-472C-AC9A-20F045C1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24025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Wind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4EA8B-7F33-4D0A-AB68-955B0E86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71725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2ED"/>
                </a:solidFill>
                <a:latin typeface="Arial"/>
                <a:ea typeface="Arial"/>
                <a:cs typeface="Arial"/>
              </a:rPr>
              <a:t>ERA5 reanalysis snapshot</a:t>
            </a:r>
          </a:p>
          <a:p xmlns:a="http://schemas.openxmlformats.org/drawingml/2006/main">
            <a:pPr>
              <a:defRPr sz="2250" b="0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2ED"/>
                </a:solidFill>
                <a:latin typeface="Arial"/>
                <a:ea typeface="Arial"/>
                <a:cs typeface="Arial"/>
              </a:rPr>
              <a:t>for a selected date and hour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196E3-FEDD-403F-A5E5-774167F8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2ED"/>
                </a:solidFill>
                <a:latin typeface="Arial"/>
                <a:ea typeface="Arial"/>
                <a:cs typeface="Arial"/>
              </a:rPr>
              <a:t>Richer inputs for reproducible test 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20EA4-3031-4CA5-A4B4-A960FAF3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Current route: scalar CPU • Uniform, constant wind per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8F894-E8A9-4295-97B4-8EC6EA0C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9B55"/>
                </a:solidFill>
                <a:latin typeface="Arial"/>
                <a:ea typeface="Arial"/>
                <a:cs typeface="Arial"/>
              </a:rPr>
              <a:t>The simulation is not yet a calibrated wildfire forecast</a:t>
            </a:r>
          </a:p>
        </p:txBody>
      </p:sp>
    </p:spTree>
    <p:extLst>
      <p:ext uri="{BB962C8B-B14F-4D97-AF65-F5344CB8AC3E}">
        <p14:creationId xmlns:p14="http://schemas.microsoft.com/office/powerpoint/2010/main" val="6924092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1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5A519-84F0-4B8F-98AE-1785025D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D"/>
                </a:solidFill>
                <a:latin typeface="Arial"/>
                <a:ea typeface="Arial"/>
                <a:cs typeface="Arial"/>
              </a:rPr>
              <a:t>GPU execution profiling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B8AC8-58E0-44D0-987C-650F8A47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EMBER  /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D17A8-5E80-4665-90FC-07B00D96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Julián  /  Profiling scenario execution across four MPI processes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9F11F-DB64-41CE-B690-BFD9B892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71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MPI 0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cd74b21b84e17"/>
          <a:srcRect xmlns:a="http://schemas.openxmlformats.org/drawingml/2006/main" l="0" t="44042" r="0" b="440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52625" y="1914525"/>
            <a:ext cx="9591675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67EC9-07FE-4C5E-AA0C-FC2FC59E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171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MPI 1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94122ab204183"/>
          <a:srcRect xmlns:a="http://schemas.openxmlformats.org/drawingml/2006/main" l="0" t="44042" r="0" b="440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52625" y="2857500"/>
            <a:ext cx="9591675" cy="742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B6722-711A-4F60-B683-0ABB5AE3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171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MPI 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5592abc9049ee"/>
          <a:srcRect xmlns:a="http://schemas.openxmlformats.org/drawingml/2006/main" l="0" t="44042" r="0" b="440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52625" y="3800475"/>
            <a:ext cx="9591675" cy="742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70ECF-EF8D-49A6-953E-B9F82673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171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MPI 3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ccdaac3ed4b55"/>
          <a:srcRect xmlns:a="http://schemas.openxmlformats.org/drawingml/2006/main" l="0" t="44042" r="0" b="440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52625" y="4743450"/>
            <a:ext cx="9591675" cy="7429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2B2C7-65FB-492D-9086-928FB8FE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100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Execution traces guide optimisation; speedup still needs a matched benchmark</a:t>
            </a:r>
          </a:p>
        </p:txBody>
      </p:sp>
    </p:spTree>
    <p:extLst>
      <p:ext uri="{BB962C8B-B14F-4D97-AF65-F5344CB8AC3E}">
        <p14:creationId xmlns:p14="http://schemas.microsoft.com/office/powerpoint/2010/main" val="4577677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1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7D455-4AF6-4470-9D86-307B6482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D"/>
                </a:solidFill>
                <a:latin typeface="Arial"/>
                <a:ea typeface="Arial"/>
                <a:cs typeface="Arial"/>
              </a:rPr>
              <a:t>Fire model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ECD06-8998-4BC8-BA8A-2E87BF9D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EMBER  /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995F6-EEF5-4E48-A261-68613429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Jesús  /  Two approaches investigated in issue #4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D0623-EED7-4FDC-86D4-3A0CBBD1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rothermel-fire-model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21452-91B5-4D51-9B59-2AE80161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2ED"/>
                </a:solidFill>
                <a:latin typeface="Arial"/>
                <a:ea typeface="Arial"/>
                <a:cs typeface="Arial"/>
              </a:rPr>
              <a:t>Implemented • Compilation and testing pending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8DA47-9F8A-4C4E-AC6C-BFD9EC48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normalized-fuel-model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D0B76-A6C0-45D8-9CB7-9BC58294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2ED"/>
                </a:solidFill>
                <a:latin typeface="Arial"/>
                <a:ea typeface="Arial"/>
                <a:cs typeface="Arial"/>
              </a:rPr>
              <a:t>Branch created for the alternative approach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7E909-6D21-4382-8C88-C46465C1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0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Both branches created from dev</a:t>
            </a:r>
          </a:p>
        </p:txBody>
      </p:sp>
    </p:spTree>
    <p:extLst>
      <p:ext uri="{BB962C8B-B14F-4D97-AF65-F5344CB8AC3E}">
        <p14:creationId xmlns:p14="http://schemas.microsoft.com/office/powerpoint/2010/main" val="7388913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1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F074D-614E-4E47-A303-B533AA29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3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D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FF02C-7B07-46F9-8314-7857AD61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EMBER  /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7EE3E-6787-41F6-8D97-29386DF7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95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F7D50-DF59-49B1-970D-84630157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43100"/>
            <a:ext cx="9810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5F2ED"/>
                </a:solidFill>
                <a:latin typeface="Arial"/>
                <a:ea typeface="Arial"/>
                <a:cs typeface="Arial"/>
              </a:rPr>
              <a:t>Compile and test Rothermel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BBECA-9316-45EA-B915-559C5261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95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DAC76-E17D-4ED5-B6EE-2BCEEE3D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48000"/>
            <a:ext cx="9810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5F2ED"/>
                </a:solidFill>
                <a:latin typeface="Arial"/>
                <a:ea typeface="Arial"/>
                <a:cs typeface="Arial"/>
              </a:rPr>
              <a:t>Benchmark the GPU changes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0D549-0A92-4641-8FBB-6C301A4B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95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9B5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9B5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5E9BF-7B4A-4CD7-8D1D-410DD74B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52900"/>
            <a:ext cx="9810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5F2ED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5F2ED"/>
                </a:solidFill>
                <a:latin typeface="Arial"/>
                <a:ea typeface="Arial"/>
                <a:cs typeface="Arial"/>
              </a:rPr>
              <a:t>Work towards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6049A-8024-4B91-9CE8-10CA5878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5BDC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5BDC6"/>
                </a:solidFill>
                <a:latin typeface="Arial"/>
                <a:ea typeface="Arial"/>
                <a:cs typeface="Arial"/>
              </a:rPr>
              <a:t>Proposed next steps • Integration and validation remain ahead</a:t>
            </a:r>
          </a:p>
        </p:txBody>
      </p:sp>
    </p:spTree>
    <p:extLst>
      <p:ext uri="{BB962C8B-B14F-4D97-AF65-F5344CB8AC3E}">
        <p14:creationId xmlns:p14="http://schemas.microsoft.com/office/powerpoint/2010/main" val="17705870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2026-09-29T07:02:10.9440000Z</dcterms:created>
  <dcterms:modified xsi:type="dcterms:W3CDTF">2026-09-29T07:02:10.9440000Z</dcterms:modified>
</coreProperties>
</file>