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771a4853c4d69" /><Relationship Type="http://schemas.openxmlformats.org/officeDocument/2006/relationships/extended-properties" Target="/docProps/app.xml" Id="Rce29bbbe3a89462d" /><Relationship Type="http://schemas.openxmlformats.org/officeDocument/2006/relationships/officeDocument" Target="/ppt/presentation.xml" Id="R7fd147a84b7d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b8985098ba4a18"/>
  </p:sldMasterIdLst>
  <p:notesMasterIdLst>
    <p:notesMasterId xmlns:r="http://schemas.openxmlformats.org/officeDocument/2006/relationships" r:id="Rcd2c1e06a64d4066"/>
  </p:notesMasterIdLst>
  <p:sldIdLst>
    <p:sldId xmlns:r="http://schemas.openxmlformats.org/officeDocument/2006/relationships" id="256" r:id="Re2901bf5bc9848b8"/>
    <p:sldId xmlns:r="http://schemas.openxmlformats.org/officeDocument/2006/relationships" id="257" r:id="R4688123f873d44d0"/>
    <p:sldId xmlns:r="http://schemas.openxmlformats.org/officeDocument/2006/relationships" id="258" r:id="R07eb3b32d80d4954"/>
    <p:sldId xmlns:r="http://schemas.openxmlformats.org/officeDocument/2006/relationships" id="259" r:id="R650a0e77cb5841bc"/>
    <p:sldId xmlns:r="http://schemas.openxmlformats.org/officeDocument/2006/relationships" id="260" r:id="Rf3dbe494eeb24a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18aa276ba24df9" /><Relationship Type="http://schemas.openxmlformats.org/officeDocument/2006/relationships/slideMaster" Target="/ppt/slideMasters/slideMaster1.xml" Id="Rccb8985098ba4a18" /><Relationship Type="http://schemas.openxmlformats.org/officeDocument/2006/relationships/notesMaster" Target="/ppt/notesMasters/notesMaster1.xml" Id="Rcd2c1e06a64d4066" /><Relationship Type="http://schemas.openxmlformats.org/officeDocument/2006/relationships/presProps" Target="/ppt/presProps.xml" Id="Rd15dba88730f4f87" /><Relationship Type="http://schemas.openxmlformats.org/officeDocument/2006/relationships/tableStyles" Target="/ppt/tableStyles.xml" Id="R7e4a892839d6432a" /><Relationship Type="http://schemas.openxmlformats.org/officeDocument/2006/relationships/slide" Target="/ppt/slides/slide1.xml" Id="Re2901bf5bc9848b8" /><Relationship Type="http://schemas.openxmlformats.org/officeDocument/2006/relationships/slide" Target="/ppt/slides/slide2.xml" Id="R4688123f873d44d0" /><Relationship Type="http://schemas.openxmlformats.org/officeDocument/2006/relationships/slide" Target="/ppt/slides/slide3.xml" Id="R07eb3b32d80d4954" /><Relationship Type="http://schemas.openxmlformats.org/officeDocument/2006/relationships/slide" Target="/ppt/slides/slide4.xml" Id="R650a0e77cb5841bc" /><Relationship Type="http://schemas.openxmlformats.org/officeDocument/2006/relationships/slide" Target="/ppt/slides/slide5.xml" Id="Rf3dbe494eeb24a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8c8553a3e5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643e4eaf344d0" /><Relationship Type="http://schemas.openxmlformats.org/officeDocument/2006/relationships/notesMaster" Target="/ppt/notesMasters/notesMaster1.xml" Id="R7095d5749fd9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6133fe8e04cfd" /><Relationship Type="http://schemas.openxmlformats.org/officeDocument/2006/relationships/notesMaster" Target="/ppt/notesMasters/notesMaster1.xml" Id="Rcdaafd0d9f02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88e1db8ed74c0a" /><Relationship Type="http://schemas.openxmlformats.org/officeDocument/2006/relationships/notesMaster" Target="/ppt/notesMasters/notesMaster1.xml" Id="Rab1a13c7cb8646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db36e495840a9" /><Relationship Type="http://schemas.openxmlformats.org/officeDocument/2006/relationships/notesMaster" Target="/ppt/notesMasters/notesMaster1.xml" Id="R419f2eb4e742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794627d9b4c93" /><Relationship Type="http://schemas.openxmlformats.org/officeDocument/2006/relationships/notesMaster" Target="/ppt/notesMasters/notesMaster1.xml" Id="R89a3c86db970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morning. Here is a quick update on our overnight progress with EMBER. We worked on three areas: adding real terrain and wind data, improving GPU execution efficiency, and developing the fire spread model. I’ll briefly explain where each area stands.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progress reported by the presenter on 29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0:20–1:25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contribution was improving the real data inputs for our Collserola case. We now include elevation and a wind snapshot from ERA5 reanalysis, alongside the existing fuel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elevation data is aligned with the simulation grid, so differences in height can influence the slope between neighbouring cells. The wind input gives us a direction and speed for a selected date and hour, instead of relying only on manually chosen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now, that wind is constant across the area and throughout the run. This workflow runs on the scalar CPU version; it is not yet integrated with the GPU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main advance is richer, reproducible environmental inputs. These inputs make our test cases more realistic, but they do not yet make the simulation a calibrated wildfire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docs/real-environment.md and docs/real-terrain.md in the EMBER repository; presenter’s contribution report. Elevation: Copernicus DEM GLO-30. Weather: ERA5 reanalysis delivered through Open-Meteo. No claim of GPU parity or physical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Julián continued working on the efficiency of the GPU simulation. These screenshots show execution profiles in NVIDIA Nsight Systems for four MPI processes, labelled zero to three.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row shows a sequence of scenarios assigned to one process. The repeated blocks let us inspect how the work is organised, including scenario execution and CUDA synchronisation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value of these profiles is that they make the execution pattern visible. They help guide optimisation and show where we should measure overhead more carefully.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do not have a matched before and after benchmark in these screenshots, so I am not claiming a specific speedup. The next measurement should compare the same workload and configuration, checking both execution time and correctness. That will let us quantify the benefit of the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four original WhatsApp screenshots supplied by the presenter, 29 September 2026, 08:24:07, 08:24:22, 08:24:37 and 08:25:05. Cropped to the scenario and CUDA API timeline rows. Screenshots show ranks 0–3; they are not a before/after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Jesús focused on the fire model. He investigated the two approaches described in issue number four and created two branches from dev: rothermel-fire-model and normalized-fuel-model.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Rothermel model is already implemented in the first branch. However, it still needs to be compiled and tested, so we should describe it as implementation progress, not as a validated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second branch provides a separate place to explore the normalised fuel approach. We are not claiming that this alternative has already been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gives us a clear starting point for the next stage: check that the Rothermel implementation builds, test its behaviour, and then assess how it can fit with the rest of 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Jesús’s direct report supplied by the presenter: investigated both approaches in issue #4; created rothermel-fire-model and normalized-fuel-model from dev; implemented Rothermel in the first branch, pending compilation and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3:25–4:00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proposed next steps are to compile and test the Rothermel model, measure the GPU changes with comparable benchmarks, and move towards integrating the environmental inputs with the other developments.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workstreams are progressing, but they are not yet one fully integrated, validated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our overnight update: richer real data inputs, continued GPU optimisation, and an implemented Rothermel model awaiting validation. Thank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next steps based on the reported status; not claims of completed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2354e3e7c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5822d5fb54bc8" /><Relationship Type="http://schemas.openxmlformats.org/officeDocument/2006/relationships/slideLayout" Target="/ppt/slideLayouts/slideLayout1.xml" Id="R91d21b830451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21b830451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b186b96784994" /><Relationship Type="http://schemas.openxmlformats.org/officeDocument/2006/relationships/notesSlide" Target="/ppt/notesSlides/notesSlide1.xml" Id="R3e5c473b965b4d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f214d34064437" /><Relationship Type="http://schemas.openxmlformats.org/officeDocument/2006/relationships/notesSlide" Target="/ppt/notesSlides/notesSlide2.xml" Id="Rd284cd075da3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0966b117d4b87" /><Relationship Type="http://schemas.openxmlformats.org/officeDocument/2006/relationships/image" Target="/ppt/media/image.png" Id="R9a7f1d429494451b" /><Relationship Type="http://schemas.openxmlformats.org/officeDocument/2006/relationships/image" Target="/ppt/media/image2.png" Id="R8a3f5396ea4e492a" /><Relationship Type="http://schemas.openxmlformats.org/officeDocument/2006/relationships/image" Target="/ppt/media/image3.png" Id="R0e1b023603a8415e" /><Relationship Type="http://schemas.openxmlformats.org/officeDocument/2006/relationships/image" Target="/ppt/media/image4.png" Id="R059408b334a3401b" /><Relationship Type="http://schemas.openxmlformats.org/officeDocument/2006/relationships/notesSlide" Target="/ppt/notesSlides/notesSlide3.xml" Id="R1ed3ef342aec4c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a9e44aa6d4561" /><Relationship Type="http://schemas.openxmlformats.org/officeDocument/2006/relationships/notesSlide" Target="/ppt/notesSlides/notesSlide4.xml" Id="R1c06a75cb0ce4a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7451b3edb4b36" /><Relationship Type="http://schemas.openxmlformats.org/officeDocument/2006/relationships/notesSlide" Target="/ppt/notesSlides/notesSlide5.xml" Id="R055b02cfbd264b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FE6B4-FE03-45D0-BA91-A8558381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Overnight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89851-B4A7-4AEC-AA45-B1F606B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620DA-A5A7-4314-BF3F-D9E1AB4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76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99B52-F1BD-4A4E-A669-6D1DA770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inputs. GPU execution. Fire modelling.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3F869-B6A1-4FC4-9C69-E899893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Team progress update  ·  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26803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F6DCD-B9F5-4554-8ECA-93094A17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terrain and wind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9D6E-14DE-438A-9CEA-285A8268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76298-C3DA-4A62-AD97-B8B329CD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Elevation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DF655-4CB9-4D40-939E-2018A463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heights aligned with</a:t>
            </a:r>
          </a:p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the Collserola simulation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AE0D2-8E5B-4736-8F2F-EE2C752A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240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BB2A8-176F-4D55-9115-38EB524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ERA5 reanalysis snapshot</a:t>
            </a:r>
          </a:p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for a selected date and hour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434CB-399E-4B90-9515-991A27D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Richer inputs for reproducible test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A78AD-2EE1-4BD6-B268-9B8D6C71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Current route: scalar CPU • Uniform, constant wind per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F638C-BEE5-43AD-8815-7D198C5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9B55"/>
                </a:solidFill>
                <a:latin typeface="Arial"/>
                <a:ea typeface="Arial"/>
                <a:cs typeface="Arial"/>
              </a:rPr>
              <a:t>The simulation is not yet a calibrated wildfire forecast</a:t>
            </a:r>
          </a:p>
        </p:txBody>
      </p:sp>
    </p:spTree>
    <p:extLst>
      <p:ext uri="{BB962C8B-B14F-4D97-AF65-F5344CB8AC3E}">
        <p14:creationId xmlns:p14="http://schemas.microsoft.com/office/powerpoint/2010/main" val="1551841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3E813-2E73-4FC2-AB09-2109BED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GPU execution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D88F-8307-47C7-802E-CBA3875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69A61-2A6D-473E-9354-4097752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Julián  /  Profiling scenario execution across four MPI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FEC4-8FAF-4655-82B3-0B44A7C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f1d429494451b"/>
          <a:stretch xmlns:a="http://schemas.openxmlformats.org/drawingml/2006/main"/>
        </p:blipFill>
        <p:spPr>
          <a:xfrm xmlns:a="http://schemas.openxmlformats.org/drawingml/2006/main">
            <a:off x="1952625" y="1914578"/>
            <a:ext cx="9591675" cy="7428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22004-4383-4D04-9F0D-4D6FA15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f5396ea4e492a"/>
          <a:stretch xmlns:a="http://schemas.openxmlformats.org/drawingml/2006/main"/>
        </p:blipFill>
        <p:spPr>
          <a:xfrm xmlns:a="http://schemas.openxmlformats.org/drawingml/2006/main">
            <a:off x="1952625" y="2857553"/>
            <a:ext cx="9591675" cy="7428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8D7A-702E-4914-BB1D-B917F829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b023603a8415e"/>
          <a:stretch xmlns:a="http://schemas.openxmlformats.org/drawingml/2006/main"/>
        </p:blipFill>
        <p:spPr>
          <a:xfrm xmlns:a="http://schemas.openxmlformats.org/drawingml/2006/main">
            <a:off x="1952625" y="3800528"/>
            <a:ext cx="9591675" cy="74284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D1AE6-6E4A-40FA-B25E-E32D4FA0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408b334a3401b"/>
          <a:stretch xmlns:a="http://schemas.openxmlformats.org/drawingml/2006/main"/>
        </p:blipFill>
        <p:spPr>
          <a:xfrm xmlns:a="http://schemas.openxmlformats.org/drawingml/2006/main">
            <a:off x="1952625" y="4743503"/>
            <a:ext cx="9591675" cy="74284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9EEBD-8565-4FC1-8CD0-8D28263D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Execution traces guide optimisation; speedup still needs a matched benchmark</a:t>
            </a:r>
          </a:p>
        </p:txBody>
      </p:sp>
    </p:spTree>
    <p:extLst>
      <p:ext uri="{BB962C8B-B14F-4D97-AF65-F5344CB8AC3E}">
        <p14:creationId xmlns:p14="http://schemas.microsoft.com/office/powerpoint/2010/main" val="1970058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62E1C-18AF-48B7-B1E1-1C75751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Fire model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2B104-FE6B-4104-9AAF-FD1C2FE7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21CF9-9010-4F4A-94C5-F1AE334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Jesús  /  Two approaches investigated in issue #4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C95C9-A255-4D25-96C0-E672DBA2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rothermel-fire-model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0129-2A7B-4A85-B230-56E88E4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Implemented • Compilation and testing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C1D62-F55F-4781-9267-7124937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normalized-fuel-model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C7841-0788-4D9D-B565-F4FB99A2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Branch created for the alternative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123ED-B5B4-4D6F-96EA-FFBDA48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Both branches created from dev</a:t>
            </a:r>
          </a:p>
        </p:txBody>
      </p:sp>
    </p:spTree>
    <p:extLst>
      <p:ext uri="{BB962C8B-B14F-4D97-AF65-F5344CB8AC3E}">
        <p14:creationId xmlns:p14="http://schemas.microsoft.com/office/powerpoint/2010/main" val="1661585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22E18-30AE-4066-BD69-F68DD0A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BB2BB-F936-43CD-8656-C40F8A27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F98E6-A262-45FC-A48B-FD0639EE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ECC10-5159-4DF6-BDFB-2484B9B3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Compile and test Rothermel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11FF3-DEF2-4CDB-9EA7-DD20081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CD3CA-20F7-42F2-9A04-48591D3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Benchmark the GPU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CED6A-75EE-466E-8705-057D554A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D4E19-E9D1-46BB-88C1-7600740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529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Work towards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5F998-B0DA-4F63-B330-744387BF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Proposed next steps • Integration and validation remain ahead</a:t>
            </a:r>
          </a:p>
        </p:txBody>
      </p:sp>
    </p:spTree>
    <p:extLst>
      <p:ext uri="{BB962C8B-B14F-4D97-AF65-F5344CB8AC3E}">
        <p14:creationId xmlns:p14="http://schemas.microsoft.com/office/powerpoint/2010/main" val="101982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2026-09-29T07:03:24.5260000Z</dcterms:created>
  <dcterms:modified xsi:type="dcterms:W3CDTF">2026-09-29T07:03:24.5270000Z</dcterms:modified>
</coreProperties>
</file>